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4" r:id="rId1"/>
  </p:sldMasterIdLst>
  <p:sldIdLst>
    <p:sldId id="256" r:id="rId2"/>
    <p:sldId id="267" r:id="rId3"/>
    <p:sldId id="268" r:id="rId4"/>
    <p:sldId id="257" r:id="rId5"/>
    <p:sldId id="269" r:id="rId6"/>
    <p:sldId id="258" r:id="rId7"/>
    <p:sldId id="270" r:id="rId8"/>
    <p:sldId id="260" r:id="rId9"/>
    <p:sldId id="261" r:id="rId10"/>
    <p:sldId id="262" r:id="rId11"/>
    <p:sldId id="263" r:id="rId12"/>
    <p:sldId id="264" r:id="rId13"/>
    <p:sldId id="265" r:id="rId14"/>
    <p:sldId id="271" r:id="rId15"/>
    <p:sldId id="266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3322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77396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7239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41028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15591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9279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017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54404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6018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48062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5883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173295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460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439506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61149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045060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06080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875090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5" r:id="rId1"/>
    <p:sldLayoutId id="2147483726" r:id="rId2"/>
    <p:sldLayoutId id="2147483727" r:id="rId3"/>
    <p:sldLayoutId id="2147483728" r:id="rId4"/>
    <p:sldLayoutId id="2147483729" r:id="rId5"/>
    <p:sldLayoutId id="2147483730" r:id="rId6"/>
    <p:sldLayoutId id="2147483731" r:id="rId7"/>
    <p:sldLayoutId id="2147483732" r:id="rId8"/>
    <p:sldLayoutId id="2147483733" r:id="rId9"/>
    <p:sldLayoutId id="2147483734" r:id="rId10"/>
    <p:sldLayoutId id="2147483735" r:id="rId11"/>
    <p:sldLayoutId id="2147483736" r:id="rId12"/>
    <p:sldLayoutId id="2147483737" r:id="rId13"/>
    <p:sldLayoutId id="2147483738" r:id="rId14"/>
    <p:sldLayoutId id="2147483739" r:id="rId15"/>
    <p:sldLayoutId id="2147483740" r:id="rId16"/>
    <p:sldLayoutId id="2147483741" r:id="rId17"/>
  </p:sldLayoutIdLst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3697" y="1308124"/>
            <a:ext cx="8816606" cy="1513733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ADMISSION PREDICTION USING XGBOOST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AI-Powered Machine Learning Application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8542" y="3905860"/>
            <a:ext cx="8386915" cy="2993929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Technologies: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| Pandas | NumPy | Scikit-learn |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|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Jahnavi 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1C83E2-53A6-0E3E-5409-104EC7EE6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710" y="452718"/>
            <a:ext cx="8039858" cy="1400530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E7A115-CDD7-BDDA-AB1B-C0E0BC849F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710" y="1435511"/>
            <a:ext cx="8315161" cy="4591538"/>
          </a:xfrm>
        </p:spPr>
        <p:txBody>
          <a:bodyPr>
            <a:normAutofit/>
          </a:bodyPr>
          <a:lstStyle/>
          <a:p>
            <a:pPr lvl="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admission decisions depend on several academic and application-related factors. 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develops a machine learning system to predict a student's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Chance of Admit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model uses 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Regression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learn patterns from historical graduate admission data. 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features include GRE Score, TOEFL Score, University Rating, SOP, LOR, CGPA, and Research experience. 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trained model is deployed using 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real-time prediction. 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application provides an estimated admission probability through a simple and user-friendly interface.</a:t>
            </a:r>
          </a:p>
          <a:p>
            <a:pPr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42776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0A022-8575-1DEE-41FC-15A08CCAEE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A21C7E-C855-D56F-99AC-1F729D8585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6988" y="1853248"/>
            <a:ext cx="8030024" cy="4793232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Admission to graduate programs depends on multiple academic and profile-related factors.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Manually estimating admission chances can be difficult because several variables influence the outcome.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can identify relationships between historical student data and admission outcomes.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applies 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 powerful gradient boosting algorithm, to predict admission chances.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application allows users to enter student details and receive an estimated admission probability.</a:t>
            </a:r>
          </a:p>
          <a:p>
            <a:pPr>
              <a:buFont typeface="Arial" panose="020B0604020202020204" pitchFamily="34" charset="0"/>
              <a:buChar char="•"/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1519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4710" y="866108"/>
            <a:ext cx="7055380" cy="1400530"/>
          </a:xfrm>
        </p:spPr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955" y="2266638"/>
            <a:ext cx="8593393" cy="2747814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IN" dirty="0"/>
              <a:t>Develop an AI-powered Student Admission Prediction system using </a:t>
            </a:r>
            <a:r>
              <a:rPr lang="en-IN" b="1" dirty="0" err="1"/>
              <a:t>XGBoost</a:t>
            </a:r>
            <a:r>
              <a:rPr lang="en-IN" b="1" dirty="0"/>
              <a:t> Regression</a:t>
            </a:r>
            <a:r>
              <a:rPr lang="en-IN" dirty="0"/>
              <a:t> that </a:t>
            </a:r>
            <a:r>
              <a:rPr lang="en-IN" dirty="0" err="1"/>
              <a:t>analyzes</a:t>
            </a:r>
            <a:r>
              <a:rPr lang="en-IN" dirty="0"/>
              <a:t> student profile information and predicts the estimated </a:t>
            </a:r>
            <a:r>
              <a:rPr lang="en-IN" b="1" dirty="0"/>
              <a:t>Chance of Admit</a:t>
            </a:r>
            <a:r>
              <a:rPr lang="en-IN" dirty="0"/>
              <a:t>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CB5573-A1CE-D3B1-2496-71F7833DAC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D2F70E-A4F6-29CD-F77E-24278AD732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710" y="1543665"/>
            <a:ext cx="8174580" cy="4321283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an end-to-end Machine Learning solution for admission prediction.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 data preprocessing and exploratory data analysis.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relevant features affecting admission chances.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 an 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Regression model.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 model performance using appropriate regression metrics.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Save and reuse the trained model for prediction.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an interactive 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application.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real-time admission probability predictions through a clean interface.</a:t>
            </a:r>
          </a:p>
          <a:p>
            <a:pPr>
              <a:buFont typeface="Arial" panose="020B0604020202020204" pitchFamily="34" charset="0"/>
              <a:buChar char="•"/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71808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871" y="246241"/>
            <a:ext cx="7055380" cy="1400530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Description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0883" y="963562"/>
            <a:ext cx="7754736" cy="845574"/>
          </a:xfrm>
        </p:spPr>
        <p:txBody>
          <a:bodyPr/>
          <a:lstStyle/>
          <a:p>
            <a:pPr marL="0" indent="0">
              <a:buNone/>
              <a:defRPr sz="2000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Dataset: Graduate Admission Dataset</a:t>
            </a:r>
          </a:p>
          <a:p>
            <a:pPr marL="0" indent="0">
              <a:buNone/>
              <a:defRPr sz="2000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Features: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EE73757-26A9-49E2-E7E6-51FEB73608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8504047"/>
              </p:ext>
            </p:extLst>
          </p:nvPr>
        </p:nvGraphicFramePr>
        <p:xfrm>
          <a:off x="2743199" y="1550199"/>
          <a:ext cx="5956046" cy="24384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978023">
                  <a:extLst>
                    <a:ext uri="{9D8B030D-6E8A-4147-A177-3AD203B41FA5}">
                      <a16:colId xmlns:a16="http://schemas.microsoft.com/office/drawing/2014/main" val="1125600139"/>
                    </a:ext>
                  </a:extLst>
                </a:gridCol>
                <a:gridCol w="2978023">
                  <a:extLst>
                    <a:ext uri="{9D8B030D-6E8A-4147-A177-3AD203B41FA5}">
                      <a16:colId xmlns:a16="http://schemas.microsoft.com/office/drawing/2014/main" val="965391075"/>
                    </a:ext>
                  </a:extLst>
                </a:gridCol>
              </a:tblGrid>
              <a:tr h="2885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24531412"/>
                  </a:ext>
                </a:extLst>
              </a:tr>
              <a:tr h="2885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GRE Score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Graduate Record Examination score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10424202"/>
                  </a:ext>
                </a:extLst>
              </a:tr>
              <a:tr h="2885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TOEFL Score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TOEFL examination score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46319937"/>
                  </a:ext>
                </a:extLst>
              </a:tr>
              <a:tr h="2885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University Rating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University rating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79833418"/>
                  </a:ext>
                </a:extLst>
              </a:tr>
              <a:tr h="2885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Statement of Purpose rating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49029457"/>
                  </a:ext>
                </a:extLst>
              </a:tr>
              <a:tr h="2885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Letter of Recommendation rating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90758999"/>
                  </a:ext>
                </a:extLst>
              </a:tr>
              <a:tr h="2885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CGPA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Undergraduate CGPA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91957182"/>
                  </a:ext>
                </a:extLst>
              </a:tr>
              <a:tr h="2885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Research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Research experience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7123764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ADE3B776-E03D-1F30-D880-6CD894CC19FD}"/>
              </a:ext>
            </a:extLst>
          </p:cNvPr>
          <p:cNvSpPr txBox="1"/>
          <p:nvPr/>
        </p:nvSpPr>
        <p:spPr>
          <a:xfrm>
            <a:off x="570883" y="3993026"/>
            <a:ext cx="720761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 Variable: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Chance of Admit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Type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Structured tabular data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Supervised Machine Learning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Regression problem 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Source: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Graduate Admission dataset provided for the project.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A6915-BDD8-F903-8F0A-947F5916B1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70FB09-812A-94BA-1E71-B92421D892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710" y="1738292"/>
            <a:ext cx="7972171" cy="4195481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following preprocessing steps were performed: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Loaded the dataset using Pandas. 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Inspected the dataset structure and feature types. 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Selected relevant input features. 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Defined Chance of Admit as the target variable. 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Prepared the data for Machine Learning. 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Split the dataset into training and testing data. 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Prepared the features in the same order required by the trained model.</a:t>
            </a:r>
          </a:p>
          <a:p>
            <a:pPr>
              <a:buFont typeface="Arial" panose="020B0604020202020204" pitchFamily="34" charset="0"/>
              <a:buChar char="•"/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41261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691" y="275737"/>
            <a:ext cx="7055380" cy="1400530"/>
          </a:xfrm>
        </p:spPr>
        <p:txBody>
          <a:bodyPr/>
          <a:lstStyle/>
          <a:p>
            <a:pPr algn="ctr"/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Exploratory Data Analysis</a:t>
            </a:r>
          </a:p>
        </p:txBody>
      </p:sp>
      <p:pic>
        <p:nvPicPr>
          <p:cNvPr id="3" name="Picture 2" descr="target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7919" y="3594693"/>
            <a:ext cx="4608378" cy="288023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63DC447-CCF5-D16E-DCEA-3F0BAD5FCB4A}"/>
              </a:ext>
            </a:extLst>
          </p:cNvPr>
          <p:cNvSpPr txBox="1"/>
          <p:nvPr/>
        </p:nvSpPr>
        <p:spPr>
          <a:xfrm>
            <a:off x="507201" y="1399595"/>
            <a:ext cx="7561006" cy="40588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EDA was performed to understand: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Distribution of student academic scores.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Relationship between features and admission chances.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CGPA and admission probability patterns.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GRE and TOEFL score distributions.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Impact of research experience.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 characteristics of the dataset. 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EDA Techniques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Descriptive statistics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Distribution analysis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relationship analysis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Actual vs Predicted visualization</a:t>
            </a: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CGPA vs Admission Chance</a:t>
            </a:r>
          </a:p>
        </p:txBody>
      </p:sp>
      <p:pic>
        <p:nvPicPr>
          <p:cNvPr id="3" name="Picture 2" descr="cgpa_vs_adm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4904" y="1710812"/>
            <a:ext cx="7045797" cy="440362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Training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4711" y="1268361"/>
            <a:ext cx="8315160" cy="4980045"/>
          </a:xfrm>
        </p:spPr>
        <p:txBody>
          <a:bodyPr/>
          <a:lstStyle/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Process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Prepared input features and target variable.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Divided the dataset into training and testing sets.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Created an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Regression model.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Tuned important model hyperparameters.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Trained the model using the training data.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Evaluated predictions on evaluation data.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Saved the trained model using 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Joblib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1859" y="206912"/>
            <a:ext cx="7055380" cy="1400530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Evaluation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4415" y="1396702"/>
            <a:ext cx="8442980" cy="323220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Metrics Used: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Mean Absolute Error (MAE)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Root Mean Squared Error (RMSE)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R² Score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8772953-5A99-556F-7875-F5DB09FD81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4834627"/>
              </p:ext>
            </p:extLst>
          </p:nvPr>
        </p:nvGraphicFramePr>
        <p:xfrm>
          <a:off x="4481758" y="1607442"/>
          <a:ext cx="4010383" cy="14630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63596">
                  <a:extLst>
                    <a:ext uri="{9D8B030D-6E8A-4147-A177-3AD203B41FA5}">
                      <a16:colId xmlns:a16="http://schemas.microsoft.com/office/drawing/2014/main" val="3383258226"/>
                    </a:ext>
                  </a:extLst>
                </a:gridCol>
                <a:gridCol w="1946787">
                  <a:extLst>
                    <a:ext uri="{9D8B030D-6E8A-4147-A177-3AD203B41FA5}">
                      <a16:colId xmlns:a16="http://schemas.microsoft.com/office/drawing/2014/main" val="12194190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Metric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dirty="0"/>
                        <a:t>Score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31390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MAE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0.04315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505726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RMSE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dirty="0"/>
                        <a:t>0.06272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608993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R² Score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dirty="0"/>
                        <a:t>0.80764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16799961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1A29DEFB-3311-261E-8B27-D6526D9B31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415" y="3726425"/>
            <a:ext cx="8309075" cy="270387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Importance</a:t>
            </a:r>
          </a:p>
        </p:txBody>
      </p:sp>
      <p:pic>
        <p:nvPicPr>
          <p:cNvPr id="3" name="Picture 2" descr="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3323" y="1853248"/>
            <a:ext cx="6623011" cy="413938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Application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4710" y="1317657"/>
            <a:ext cx="8089020" cy="4935659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 Development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trained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model was integrated into a 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application.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 Features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 and user-friendly interface.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student input controls.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GRE Score input.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TOEFL Score input.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University Rating input.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SOP Rating input.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LOR Rating input.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CGPA input.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Experience selection.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admission probability prediction.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performance displayed in the application. 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5F46BDA-8D9F-03E0-5117-3AE6E89FB6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4723" y="3765754"/>
            <a:ext cx="5320753" cy="241988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6B3AFFB-6867-EB54-9FFA-6AA8DD27B9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1544" y="715244"/>
            <a:ext cx="5223932" cy="237700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2FBD60C-B10B-A3A3-32D7-0C14D8BD191B}"/>
              </a:ext>
            </a:extLst>
          </p:cNvPr>
          <p:cNvSpPr txBox="1"/>
          <p:nvPr/>
        </p:nvSpPr>
        <p:spPr>
          <a:xfrm>
            <a:off x="432619" y="238862"/>
            <a:ext cx="8780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Screenshot 1: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Admission Prediction interface.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062781E-901C-652E-0DBF-EABBD4E8388E}"/>
              </a:ext>
            </a:extLst>
          </p:cNvPr>
          <p:cNvSpPr txBox="1"/>
          <p:nvPr/>
        </p:nvSpPr>
        <p:spPr>
          <a:xfrm>
            <a:off x="432619" y="3199296"/>
            <a:ext cx="40508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Screenshot 2: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 result.</a:t>
            </a:r>
          </a:p>
        </p:txBody>
      </p:sp>
    </p:spTree>
    <p:extLst>
      <p:ext uri="{BB962C8B-B14F-4D97-AF65-F5344CB8AC3E}">
        <p14:creationId xmlns:p14="http://schemas.microsoft.com/office/powerpoint/2010/main" val="12816820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&amp; 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7700" y="1659635"/>
            <a:ext cx="6711654" cy="419548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Depends on the quality of the training dataset.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a limited number of admission-related features.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Predictions are estimates, not official admission decisions. 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an 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-based admission prediction system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Achieved an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R² score of 0.8076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Successfully deployed the model using 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real-time predictions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72</TotalTime>
  <Words>699</Words>
  <Application>Microsoft Office PowerPoint</Application>
  <PresentationFormat>On-screen Show (4:3)</PresentationFormat>
  <Paragraphs>126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Century Gothic</vt:lpstr>
      <vt:lpstr>Times New Roman</vt:lpstr>
      <vt:lpstr>Wingdings 3</vt:lpstr>
      <vt:lpstr>Ion</vt:lpstr>
      <vt:lpstr>STUDENT ADMISSION PREDICTION USING XGBOOST AI-Powered Machine Learning Application</vt:lpstr>
      <vt:lpstr>Abstract</vt:lpstr>
      <vt:lpstr>Introduction</vt:lpstr>
      <vt:lpstr>Problem Statement</vt:lpstr>
      <vt:lpstr>Objectives</vt:lpstr>
      <vt:lpstr>Dataset Description</vt:lpstr>
      <vt:lpstr>Data Preprocessing</vt:lpstr>
      <vt:lpstr>Exploratory Data Analysis</vt:lpstr>
      <vt:lpstr>CGPA vs Admission Chance</vt:lpstr>
      <vt:lpstr>Model Training</vt:lpstr>
      <vt:lpstr>Model Evaluation</vt:lpstr>
      <vt:lpstr>Feature Importance</vt:lpstr>
      <vt:lpstr>Streamlit Application</vt:lpstr>
      <vt:lpstr>PowerPoint Presentation</vt:lpstr>
      <vt:lpstr>Conclusion &amp; Limitations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rekkala jahnavi</cp:lastModifiedBy>
  <cp:revision>5</cp:revision>
  <dcterms:created xsi:type="dcterms:W3CDTF">2013-01-27T09:14:16Z</dcterms:created>
  <dcterms:modified xsi:type="dcterms:W3CDTF">2026-09-16T02:48:57Z</dcterms:modified>
  <cp:category/>
</cp:coreProperties>
</file>